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Merriweather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5.xml"/><Relationship Id="rId42" Type="http://schemas.openxmlformats.org/officeDocument/2006/relationships/font" Target="fonts/DMSans-regular.fntdata"/><Relationship Id="rId41" Type="http://schemas.openxmlformats.org/officeDocument/2006/relationships/font" Target="fonts/Merriweather-boldItalic.fntdata"/><Relationship Id="rId22" Type="http://schemas.openxmlformats.org/officeDocument/2006/relationships/slide" Target="slides/slide17.xml"/><Relationship Id="rId44" Type="http://schemas.openxmlformats.org/officeDocument/2006/relationships/font" Target="fonts/DMSans-italic.fntdata"/><Relationship Id="rId21" Type="http://schemas.openxmlformats.org/officeDocument/2006/relationships/slide" Target="slides/slide16.xml"/><Relationship Id="rId43" Type="http://schemas.openxmlformats.org/officeDocument/2006/relationships/font" Target="fonts/DM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1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8e0563f75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8e0563f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abs/2308.07107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Relationship Id="rId4" Type="http://schemas.openxmlformats.org/officeDocument/2006/relationships/image" Target="../media/image13.png"/><Relationship Id="rId9" Type="http://schemas.openxmlformats.org/officeDocument/2006/relationships/image" Target="../media/image41.png"/><Relationship Id="rId5" Type="http://schemas.openxmlformats.org/officeDocument/2006/relationships/image" Target="../media/image19.png"/><Relationship Id="rId6" Type="http://schemas.openxmlformats.org/officeDocument/2006/relationships/image" Target="../media/image39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42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9" Type="http://schemas.openxmlformats.org/officeDocument/2006/relationships/image" Target="../media/image59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46.png"/><Relationship Id="rId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54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Relationship Id="rId7" Type="http://schemas.openxmlformats.org/officeDocument/2006/relationships/image" Target="../media/image44.png"/><Relationship Id="rId8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40.png"/><Relationship Id="rId5" Type="http://schemas.openxmlformats.org/officeDocument/2006/relationships/image" Target="../media/image47.png"/><Relationship Id="rId6" Type="http://schemas.openxmlformats.org/officeDocument/2006/relationships/image" Target="../media/image51.png"/><Relationship Id="rId7" Type="http://schemas.openxmlformats.org/officeDocument/2006/relationships/image" Target="../media/image45.png"/><Relationship Id="rId8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Relationship Id="rId4" Type="http://schemas.openxmlformats.org/officeDocument/2006/relationships/image" Target="../media/image66.png"/><Relationship Id="rId5" Type="http://schemas.openxmlformats.org/officeDocument/2006/relationships/image" Target="../media/image80.png"/><Relationship Id="rId6" Type="http://schemas.openxmlformats.org/officeDocument/2006/relationships/image" Target="../media/image79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Relationship Id="rId4" Type="http://schemas.openxmlformats.org/officeDocument/2006/relationships/image" Target="../media/image6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1.png"/><Relationship Id="rId4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8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Relationship Id="rId4" Type="http://schemas.openxmlformats.org/officeDocument/2006/relationships/image" Target="../media/image7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9.png"/><Relationship Id="rId4" Type="http://schemas.openxmlformats.org/officeDocument/2006/relationships/image" Target="../media/image7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2.png"/><Relationship Id="rId4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thub.com/howardatri/no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55444" y="2617440"/>
            <a:ext cx="8881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 for IR</a:t>
            </a:r>
            <a:r>
              <a:rPr b="1" lang="en-US" sz="615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:A Survey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796150" y="3840325"/>
            <a:ext cx="65997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一篇关于大语言模型与信息检索 (LLM4IR) 的综述笔记</a:t>
            </a:r>
            <a:endParaRPr b="0" i="0" sz="2100" u="none" cap="none" strike="noStrike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作者:</a:t>
            </a:r>
            <a:r>
              <a:rPr lang="en-US" sz="15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Yutao Zhu, Huaying Yuan, Shuting Wang, Jiongnan Liu, Wenhan Liu, Chenlong Deng Haonan Chen, Zheng Liu, Zhicheng Dou, and Ji-Rong Wen</a:t>
            </a:r>
            <a:endParaRPr sz="150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出处:arxiv </a:t>
            </a:r>
            <a:r>
              <a:rPr lang="en-US" sz="1500" u="sng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https://arxiv.org/abs/2308.07107</a:t>
            </a:r>
            <a:r>
              <a:rPr lang="en-US" sz="15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-US" sz="15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2024</a:t>
            </a:r>
            <a:endParaRPr sz="150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汇报人:周泓宇</a:t>
            </a:r>
            <a:endParaRPr sz="150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60706"/>
            <a:ext cx="5334000" cy="3833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60706"/>
            <a:ext cx="5334000" cy="38338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综述概览：LLM 与 IR 的交集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66775" y="3155981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IR 核心与性能提升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866775" y="3613181"/>
            <a:ext cx="47436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581775" y="3155981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LLM 的两大角色 (Fig. 1)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581775" y="3613181"/>
            <a:ext cx="47436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38225" y="3772725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04900" y="3775106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核心功能: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检索 (确定查询与内容的相关性)。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38225" y="4158487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04900" y="4160868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应用领域: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网页检索, Chatbots/QA, 图像搜索。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38225" y="4544250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4546631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性能提升 (上游):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查询重构 (Query Rewriter)。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38225" y="4930012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04900" y="4932393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性能提升 (下游):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重排序 (Reranker) 和读取 (Reader)。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38225" y="5315775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" y="5318156"/>
            <a:ext cx="450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传统区别: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传统 IR 需用户自行整理，现代 IR (集成 Reader) 可直接生成简洁答案。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24650" y="3772725"/>
            <a:ext cx="9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19900" y="3775106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增强传统 IR 组件: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77025" y="5663437"/>
            <a:ext cx="142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19900" y="5665818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作为搜索代理 (Search Agent):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00875" y="4120387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05650" y="4122768"/>
            <a:ext cx="421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查询重写器 (Query Rewriter)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000875" y="4506150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105650" y="4508531"/>
            <a:ext cx="421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检索器 (Retriever)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000875" y="4891912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05650" y="4894293"/>
            <a:ext cx="421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重排序器 (Reranker)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000875" y="5277675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105650" y="5280056"/>
            <a:ext cx="421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阅读器 (Reader)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000875" y="6011100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105650" y="6013481"/>
            <a:ext cx="421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执行多步骤、复杂的 IR 任务。</a:t>
            </a:r>
            <a:endParaRPr/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1225" y="79625"/>
            <a:ext cx="84391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40756"/>
            <a:ext cx="5334000" cy="3224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40756"/>
            <a:ext cx="5334000" cy="32242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综述概览：发展历程与焦点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66775" y="253603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IR 发展历程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866775" y="299323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66775" y="3155156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平衡传统优势 (高效) 与现代架构 (智能) 的过程：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6775" y="4598193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神经模型挑战:</a:t>
            </a: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数据稀缺、可解释性、不准确但合理的响应。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81775" y="253603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本综述焦点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581775" y="299323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038225" y="3438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104900" y="3440906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基于词项 (Term-based)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→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38225" y="38242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04900" y="3826668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统计语言模型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(e.g., BM25 - 考虑词频与长度) →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38225" y="4210050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104900" y="4212431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神经模型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(捕捉语义与上下文线索)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753225" y="315277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819900" y="3155156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深入探讨 LLM 与 IR 系统的交集。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753225" y="35385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819900" y="3540918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涵盖四大视角: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查询重写器、检索器、重排序器、阅读器。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753225" y="419576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819900" y="4198143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收录新方向: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利用 LLM 作为搜索代理 (Search Agents)。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753225" y="4581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819900" y="4583906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侧重: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开发和应用 LLM 于 IR 系统的技术和方法。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5062"/>
            <a:ext cx="2547937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2405062"/>
            <a:ext cx="2547937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405062"/>
            <a:ext cx="2547937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2562" y="2405062"/>
            <a:ext cx="2547937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背景 (I): IR 系统的四大关键组件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57250" y="3281362"/>
            <a:ext cx="207525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Query Rewriter (查询重写器)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57250" y="3976687"/>
            <a:ext cx="197643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提升查询的精确度与表达力。如：查询扩展 (Query Expansion)、个性化搜索、对话式搜索。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690937" y="3281362"/>
            <a:ext cx="207525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Retriever (检索器)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3690937" y="3986212"/>
            <a:ext cx="197643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第一阶段 (粗排)。负责文档召回 (Recall)，目标是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高召回率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和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高效率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。经典模型如 BM25。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524625" y="3281362"/>
            <a:ext cx="207525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Reranker (重排序器)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524625" y="3986212"/>
            <a:ext cx="197643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第二阶段 (精排)。对检索器返回的有限结果进行细粒度排序，目标是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高准确率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9358312" y="3281362"/>
            <a:ext cx="207525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Reader (阅读器)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9358312" y="3681412"/>
            <a:ext cx="197643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理解检索到的文档，提取或生成准确答案。将参考文献整合到响应中是其关键技术 (RAG)。</a:t>
            </a:r>
            <a:endParaRPr/>
          </a:p>
        </p:txBody>
      </p:sp>
      <p:pic>
        <p:nvPicPr>
          <p:cNvPr descr="image.png" id="166" name="Google Shape;1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0937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7384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58312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38287"/>
            <a:ext cx="257175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1538287"/>
            <a:ext cx="257175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背景 (II): LLM 如何应用于 IR？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372225" y="3069418"/>
            <a:ext cx="58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LRMs (大型推理模型)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372225" y="3545668"/>
            <a:ext cx="5524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LLM 的演进，专门处理复杂逻辑任务 (采用 RL)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，设计是为了生成详细的思考过程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。它们为 IR (特别是 Agent) 提供了新范式，并与“测试时扩展 (Test-time Scaling)”高度相关。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66775" y="1833562"/>
            <a:ext cx="208026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LLM 特性与挑战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866775" y="2652712"/>
            <a:ext cx="19812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819525" y="1833562"/>
            <a:ext cx="20802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两大主流途径 (How?)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3819525" y="2633662"/>
            <a:ext cx="19812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038225" y="281225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104900" y="2814637"/>
            <a:ext cx="1743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缩放定律 (Scaling Law):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规模增大 → 性能提升。</a:t>
            </a:r>
            <a:r>
              <a:rPr lang="en-US" sz="1425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在IR不适用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1038225" y="374094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104900" y="3743325"/>
            <a:ext cx="1743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涌现能力: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解决复杂任务的能力。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038225" y="466963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04900" y="4672012"/>
            <a:ext cx="174307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挑战: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参数规模庞大，针对特定 IR 任务进行完全微调几乎不可能。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3962400" y="279320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057650" y="2795587"/>
            <a:ext cx="1743075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ICL (上下文学习):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无需参数调优，通过 Prompt (e.g., CoT) 引导模型。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IR 中最常用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3914775" y="4264818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4057650" y="4267200"/>
            <a:ext cx="1743075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PEFT (参数高效微调):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(e.g., LoRA, QLoRA) 减少可训练参数。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目前在 IR 中应用尚有限 (潜力点)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5619750" y="207555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95275" y="2408932"/>
            <a:ext cx="116016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重点 3: Query Rewriter </a:t>
            </a:r>
            <a:endParaRPr b="1" i="0" sz="5400" u="none" cap="none" strike="noStrike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(查询重写器)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362450" y="4382392"/>
            <a:ext cx="346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优化初始查询，弥合语义鸿沟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81162"/>
            <a:ext cx="5334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81162"/>
            <a:ext cx="53340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Query Rewriter (I): 关键场景与当前研究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66775" y="1976437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Ad-hoc 检索 (即席搜索)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866775" y="2433637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866775" y="3952875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对话式搜索 (Conversational)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866775" y="4410075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6581775" y="1976437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当前研究举例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6581775" y="2433637"/>
            <a:ext cx="474345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581775" y="2595562"/>
            <a:ext cx="4743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Agent 领域 (EMNLP 2024 'Re-invoke'):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提出在工具索引阶段，利用 LLM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生成多样化的合成查询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，以覆盖工具文档的查询空间，解决 Agent 工具识别瓶颈。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581775" y="3552825"/>
            <a:ext cx="4743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医学领域 (ACL 2024 'Rrnorm'):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利用 LLM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分解和重构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复杂的中文诊断术语，并通过“检索-排序”框架将其规范化，提升医学术语映射的性能。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38225" y="259318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104900" y="2595562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定义: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传统、一次性、</a:t>
            </a:r>
            <a:r>
              <a:rPr b="1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独立于上下文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的查询任务。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1038225" y="297894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1104900" y="2981325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目标: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解决查询与文档间的“语义鸿沟”。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038225" y="336470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104900" y="3367087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LLM 作用: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查询扩展、语义匹配。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038225" y="45696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104900" y="4572000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定义: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连续、多轮、有上下文的交互式查询。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38225" y="495538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104900" y="4957762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目标: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解决历史上下文理解和共指消解。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038225" y="534114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104900" y="5343525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LLM 作用: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基于对话历史重写当前查询。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5048"/>
            <a:ext cx="3492550" cy="33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800" y="2405048"/>
            <a:ext cx="3492550" cy="33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100" y="2405049"/>
            <a:ext cx="3492550" cy="33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Query Rewriter (II): 重写格式 (Formats)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57250" y="3281362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1. Questions (问题)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57250" y="3681412"/>
            <a:ext cx="2921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将原始查询重写为类似形式的问题。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857250" y="4033837"/>
            <a:ext cx="29210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 [Can generative...]: 证明 LLM 生成查询变体的潜力，但无法涵盖所有人工变体。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4635549" y="3281362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2. Keywords (关键词)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635549" y="3681412"/>
            <a:ext cx="2921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对查询中概念的高级抽象。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413849" y="3281362"/>
            <a:ext cx="306710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Answer-passages (含答案段落)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413849" y="398621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关键挑战: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short queries vs long documents 的语义鸿沟。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413849" y="450056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思路: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LLM 先“猜”一个详细答案，再用这个答案（而非短查询）去检索。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738437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4768899" y="40338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4826049" y="4033837"/>
            <a:ext cx="273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将新查询构建为关键词。B</a:t>
            </a:r>
            <a:r>
              <a:rPr lang="en-US" sz="13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EQUE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4768899" y="436721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826049" y="4367212"/>
            <a:ext cx="2730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1. 生成高质量种子关键词; 2. 利用关键词增强查询。</a:t>
            </a:r>
            <a:r>
              <a:rPr b="1" i="0" lang="en-US" sz="10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Can Query Expansion Improve Generalization of  Strongross-Encoder Rankers? </a:t>
            </a:r>
            <a:r>
              <a:rPr b="1" lang="en-US" sz="10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SIGIR 2024</a:t>
            </a:r>
            <a:endParaRPr b="1" sz="1100"/>
          </a:p>
        </p:txBody>
      </p:sp>
      <p:pic>
        <p:nvPicPr>
          <p:cNvPr descr="image.png" id="249" name="Google Shape;24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738437"/>
            <a:ext cx="257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28862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328862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328862"/>
            <a:ext cx="3492549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Query Rewriter (III): 训练方法 (Approaches)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57250" y="3205162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1. Prompting (提示)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857250" y="360521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Zero-shot, Few-shot (ICL), 和 CoT (迭代提示)。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57250" y="4214812"/>
            <a:ext cx="29210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 [76] 探索了八种不同提示 (e.g., 生成扩展词 vs. 伪文档)。Query2Doc [65] 被证明最有效。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635549" y="3205162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2. SFT (监督微调)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635549" y="360521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LLM 并非天然为重写设计，SFT 可使其更适配任务。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4635549" y="411956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挑战: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训练数据匮乏。Ad-hoc 场景常采用隐式反馈和 RL 训练。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413849" y="3205162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RL (强化学习)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413849" y="360521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Rewriter 缺乏独立损失函数，RL 提供了替代范式。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413849" y="411956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思路: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接收下游组件 (e.g., 排序模型, Reader) 的反馈信号作为奖励。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413849" y="4633912"/>
            <a:ext cx="29210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e.g., Rafe [88], BEQUE [81], DeepSeek-R1 (使用检索指标)。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6622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6622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6622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00425" y="1238250"/>
            <a:ext cx="539115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33650"/>
            <a:ext cx="53340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33650"/>
            <a:ext cx="5334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Query Rewriter (IV): 局限性 (Limitations)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866775" y="2828925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1. 概念漂移 (Concept Drifts)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866775" y="3286125"/>
            <a:ext cx="4743450" cy="19050"/>
          </a:xfrm>
          <a:prstGeom prst="rect">
            <a:avLst/>
          </a:prstGeom>
          <a:solidFill>
            <a:srgbClr val="F5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6581775" y="2828925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2. 性能与扩展的负相关性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6581775" y="3286125"/>
            <a:ext cx="4743450" cy="19050"/>
          </a:xfrm>
          <a:prstGeom prst="rect">
            <a:avLst/>
          </a:prstGeom>
          <a:solidFill>
            <a:srgbClr val="F5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1038225" y="34456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1104900" y="3448050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LLM 知识太广，在重写时可能引入不相关或偏题的信息。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1038225" y="410289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1104900" y="4105275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挑战: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需要在“丰富查询”和“保持原始意图”之间找到平衡。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6753225" y="34456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6819900" y="3448050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研究发现，查询扩展对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弱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检索器有益。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6753225" y="383143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6819900" y="3833812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但对于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强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检索器，过度扩展反而可能引入噪声，损害性能。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753225" y="448865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819900" y="4491037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挑战: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如何智能化地判断何时需要扩展。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/>
          <p:nvPr/>
        </p:nvSpPr>
        <p:spPr>
          <a:xfrm>
            <a:off x="5619750" y="252129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1755457" y="2854672"/>
            <a:ext cx="8681085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重点 4: Retriever (检索器)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3829050" y="3936652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第一道文档过滤器：高效率与高召回率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9825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09825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09825"/>
            <a:ext cx="349254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Retriever (I): 角色 1 - 生成搜索数据 (离线)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857250" y="3286125"/>
            <a:ext cx="306710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1. 伪查询生成 (Pseudo Query)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857250" y="3981450"/>
            <a:ext cx="2921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给定 D, 生成 Q。</a:t>
            </a: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成本高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857250" y="4238625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UDAPDR [115]: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生成少量高质量样本 → </a:t>
            </a: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蒸馏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到小模型 → </a:t>
            </a: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小模型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生成大量查询 (降低成本)。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4635549" y="3286125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2. 相关性标签生成 (Label)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4635549" y="3686175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估算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P(Q|D)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(给定文档生成该查询的概率) 作为“软”相关性标签。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8413849" y="3286125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完整样本生成 (Triplets)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8413849" y="3686175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直接生成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(Q, Pos_D, Neg_D)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格式的三元组训练数据。 (e.g., 两阶段流程: 1. 构思任务. 2. 生成三元组)。</a:t>
            </a:r>
            <a:endParaRPr/>
          </a:p>
        </p:txBody>
      </p:sp>
      <p:pic>
        <p:nvPicPr>
          <p:cNvPr descr="image.png" id="315" name="Google Shape;31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7432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7432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7432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91100" y="1254163"/>
            <a:ext cx="3409950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1213" y="1311313"/>
            <a:ext cx="355282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05375" y="1809750"/>
            <a:ext cx="329565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93143"/>
            <a:ext cx="5334000" cy="3119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93143"/>
            <a:ext cx="5334000" cy="311943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Retriever (II): 角色 2 - 作为骨干网络 (在线)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866775" y="2588418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密集检索器 (Dense Retriever)</a:t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866775" y="3045618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 txBox="1"/>
          <p:nvPr/>
        </p:nvSpPr>
        <p:spPr>
          <a:xfrm>
            <a:off x="6581775" y="2588418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生成式检索器 (Generative Retriever)</a:t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6581775" y="3045618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6581775" y="3864768"/>
            <a:ext cx="49806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实现方式: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038225" y="320516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104900" y="3207543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提升现有能力: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作为文本编码器 (Encoder)，提升语义表征 (e.g., RepLLaMA)。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038225" y="38623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104900" y="3864768"/>
            <a:ext cx="4505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引入新能力: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6753225" y="320516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819900" y="3207543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颠覆性范式: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抛弃传统索引，将文档知识存入参数，直接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生成 DocID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753225" y="40719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819900" y="4074318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1. 微调 LLM: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e.g., DSI (微调 T5)，输入 Q, 解码 DocID。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753225" y="4457700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819900" y="4460081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2. Prompting LLM: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e.g., GPT-3 (少样本)，直接生成 URL。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104900" y="4209206"/>
            <a:ext cx="42672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指令跟随 (Instruction Following):</a:t>
            </a:r>
            <a:r>
              <a:rPr b="1" lang="en-US" sz="1200">
                <a:solidFill>
                  <a:srgbClr val="0A0A0A"/>
                </a:solidFill>
                <a:highlight>
                  <a:srgbClr val="D3E3FD"/>
                </a:highlight>
              </a:rPr>
              <a:t>模型理解并遵循用户提供的详细、具体的指令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104900" y="4793431"/>
            <a:ext cx="4267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上下文学习 (In-context Learning)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86050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686050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686050"/>
            <a:ext cx="3492549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Retriever (III): 局限性 (Limitations)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857250" y="3562350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1. 延迟 (Latency)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857250" y="3962400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LLM 参数巨大，推理时间过长，这对于需要快速响应（毫秒级）的在线检索器是致命的。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4635549" y="3562350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2. 数据不匹配 (Mismatch)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4635549" y="3962400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LLM 生成的“伪查询”数据可能与真实用户的、多变的、甚至错误的查询模式存在偏差 (Bias)。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8413849" y="3562350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微调成本 (Cost)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8413849" y="3962400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高效微调 (PEFT) 这些巨型模型以适应特定检索领域，仍是一个关键技术问题。</a:t>
            </a:r>
            <a:endParaRPr/>
          </a:p>
        </p:txBody>
      </p:sp>
      <p:pic>
        <p:nvPicPr>
          <p:cNvPr descr="image.png" id="359" name="Google Shape;35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0194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301942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3019425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/>
          <p:nvPr/>
        </p:nvSpPr>
        <p:spPr>
          <a:xfrm>
            <a:off x="5619750" y="252129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1415414" y="2854672"/>
            <a:ext cx="9361170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重点 5: Reranker (重排序器)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3695700" y="3936652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第二道文档过滤器：高准确率与精细排序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650" y="152400"/>
            <a:ext cx="6657218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4587"/>
            <a:ext cx="349254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14587"/>
            <a:ext cx="349254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14587"/>
            <a:ext cx="3492549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Reranker (I): 范式 1 - 监督式 (Supervised)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857250" y="3290887"/>
            <a:ext cx="306710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Encoder-only (e.g., monoBERT)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857250" y="3976687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将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[CLS] query [SEP] doc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输入模型，用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[CLS]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向量预测相关性。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4635549" y="3290887"/>
            <a:ext cx="306710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Encoder-Decoder (e.g., monoT5)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4635549" y="3976687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视为生成任务，模型被训练为生成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"true"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"false"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词元。</a:t>
            </a:r>
            <a:endParaRPr/>
          </a:p>
        </p:txBody>
      </p:sp>
      <p:sp>
        <p:nvSpPr>
          <p:cNvPr id="386" name="Google Shape;386;p29"/>
          <p:cNvSpPr txBox="1"/>
          <p:nvPr/>
        </p:nvSpPr>
        <p:spPr>
          <a:xfrm>
            <a:off x="4635549" y="4491037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RankT5 (关键):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直接生成数值分数，使用“排序损失” (更合理)。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8413849" y="3290887"/>
            <a:ext cx="306710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Decoder-only (e.g., RankLLaMA)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8413849" y="3976687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使用解码器模型的 </a:t>
            </a: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最后一个词元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表示来计算相关性。 (TSARankLLM: 两阶段训练)。</a:t>
            </a:r>
            <a:endParaRPr/>
          </a:p>
        </p:txBody>
      </p:sp>
      <p:pic>
        <p:nvPicPr>
          <p:cNvPr descr="image.png" id="389" name="Google Shape;38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7479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7479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74796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19312"/>
            <a:ext cx="5334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19312"/>
            <a:ext cx="5334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Reranker (II): 范式 2, 3, 4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66775" y="2414587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无监督 (Unsupervised)</a:t>
            </a:r>
            <a:endParaRPr/>
          </a:p>
        </p:txBody>
      </p:sp>
      <p:sp>
        <p:nvSpPr>
          <p:cNvPr id="400" name="Google Shape;400;p30"/>
          <p:cNvSpPr/>
          <p:nvPr/>
        </p:nvSpPr>
        <p:spPr>
          <a:xfrm>
            <a:off x="866775" y="2871787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 txBox="1"/>
          <p:nvPr/>
        </p:nvSpPr>
        <p:spPr>
          <a:xfrm>
            <a:off x="866775" y="3033712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通过 Prompting 直接排序，无需微调。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6581775" y="2414587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数据增强 (Data Augmentation)</a:t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6581775" y="2871787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0"/>
          <p:cNvSpPr txBox="1"/>
          <p:nvPr/>
        </p:nvSpPr>
        <p:spPr>
          <a:xfrm>
            <a:off x="6581775" y="3890962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推理密集型 (Reasoning)</a:t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6581775" y="4348162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1038225" y="331708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1104900" y="3319462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Pointwise: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逐点判断 (Q, D) 相关性 (相关/不相关 or P(Q|D))。</a:t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1038225" y="397430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1104900" y="3976687"/>
            <a:ext cx="45054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Listwise: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e.g., RankGPT. 输入 (Q + List) → 输出排序列表。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效率高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局限: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有位置偏见, 效率低。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1038225" y="490299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1104900" y="4905375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Pairwise: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e.g., (Q, D_A, D_B) → 判断 A 或 B 更相关。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6753225" y="303133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13" name="Google Shape;413;p30"/>
          <p:cNvSpPr txBox="1"/>
          <p:nvPr/>
        </p:nvSpPr>
        <p:spPr>
          <a:xfrm>
            <a:off x="6819900" y="3033712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利用 LLM (Teacher) 为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其他小模型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(Student) 生成训练数据（例如生成排序解释）。</a:t>
            </a:r>
            <a:endParaRPr/>
          </a:p>
        </p:txBody>
      </p:sp>
      <p:sp>
        <p:nvSpPr>
          <p:cNvPr id="414" name="Google Shape;414;p30"/>
          <p:cNvSpPr txBox="1"/>
          <p:nvPr/>
        </p:nvSpPr>
        <p:spPr>
          <a:xfrm>
            <a:off x="6753225" y="450770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15" name="Google Shape;415;p30"/>
          <p:cNvSpPr txBox="1"/>
          <p:nvPr/>
        </p:nvSpPr>
        <p:spPr>
          <a:xfrm>
            <a:off x="6819900" y="4510087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在重排序过程中引入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“逐步推理” (step-by-step reasoning)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来判断复杂的相关性。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90800"/>
            <a:ext cx="5334000" cy="302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90800"/>
            <a:ext cx="53340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1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Reranker (III): 局限性 (Limitations)</a:t>
            </a:r>
            <a:endParaRPr/>
          </a:p>
        </p:txBody>
      </p:sp>
      <p:sp>
        <p:nvSpPr>
          <p:cNvPr id="423" name="Google Shape;423;p31"/>
          <p:cNvSpPr txBox="1"/>
          <p:nvPr/>
        </p:nvSpPr>
        <p:spPr>
          <a:xfrm>
            <a:off x="866775" y="2886075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1. 成本与效率 (Cost &amp; Efficiency)</a:t>
            </a: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866775" y="3343275"/>
            <a:ext cx="4743450" cy="19050"/>
          </a:xfrm>
          <a:prstGeom prst="rect">
            <a:avLst/>
          </a:prstGeom>
          <a:solidFill>
            <a:srgbClr val="F5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6581775" y="2886075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2. 领域适应性 (Adaptability)</a:t>
            </a:r>
            <a:endParaRPr/>
          </a:p>
        </p:txBody>
      </p:sp>
      <p:sp>
        <p:nvSpPr>
          <p:cNvPr id="426" name="Google Shape;426;p31"/>
          <p:cNvSpPr/>
          <p:nvPr/>
        </p:nvSpPr>
        <p:spPr>
          <a:xfrm>
            <a:off x="6581775" y="3343275"/>
            <a:ext cx="4743450" cy="19050"/>
          </a:xfrm>
          <a:prstGeom prst="rect">
            <a:avLst/>
          </a:prstGeom>
          <a:solidFill>
            <a:srgbClr val="F5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1038225" y="35028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1104900" y="3505200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LLM 精排（尤其是 Listwise 和 Pairwise）需要对大量文档进行推理，非常昂贵且缓慢。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1038225" y="416004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30" name="Google Shape;430;p31"/>
          <p:cNvSpPr txBox="1"/>
          <p:nvPr/>
        </p:nvSpPr>
        <p:spPr>
          <a:xfrm>
            <a:off x="1104900" y="4162425"/>
            <a:ext cx="4505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研究方向: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预算感知排序 (EcoRank [198]),该方案在给定预算内最大化LLM的性能.</a:t>
            </a:r>
            <a:endParaRPr b="0" i="0" sz="1425" u="none" cap="none" strike="noStrike">
              <a:solidFill>
                <a:srgbClr val="1A2D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上下文重排 (ICR [199])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基于注意力通过O(1)前向传播消除生成开销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(输入合并批处理,一次自注意力,抽取结果)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>
            <a:off x="6753225" y="35028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6819900" y="3505200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现有研究大多集中在通用网页搜索 (如 MSMARCO)。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6753225" y="388858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6819900" y="3890962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在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特定领域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（如法律、医疗）或需要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复杂推理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的数据集上应用较少。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"/>
          <p:cNvSpPr/>
          <p:nvPr/>
        </p:nvSpPr>
        <p:spPr>
          <a:xfrm>
            <a:off x="5619750" y="252129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2180510" y="2854672"/>
            <a:ext cx="7830978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重点 6: Reader (阅读器)</a:t>
            </a:r>
            <a:endParaRPr/>
          </a:p>
        </p:txBody>
      </p:sp>
      <p:sp>
        <p:nvSpPr>
          <p:cNvPr id="441" name="Google Shape;441;p32"/>
          <p:cNvSpPr txBox="1"/>
          <p:nvPr/>
        </p:nvSpPr>
        <p:spPr>
          <a:xfrm>
            <a:off x="3962400" y="3936652"/>
            <a:ext cx="4267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检索增强生成 (RAG) - 重新定义答案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69306"/>
            <a:ext cx="5334000" cy="356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69306"/>
            <a:ext cx="5334000" cy="356711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Reader (RAG) (I): 核心机制与演进</a:t>
            </a:r>
            <a:endParaRPr/>
          </a:p>
        </p:txBody>
      </p:sp>
      <p:sp>
        <p:nvSpPr>
          <p:cNvPr id="449" name="Google Shape;449;p33"/>
          <p:cNvSpPr txBox="1"/>
          <p:nvPr/>
        </p:nvSpPr>
        <p:spPr>
          <a:xfrm>
            <a:off x="866775" y="236458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读者类型 (Reader Types)</a:t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866775" y="282178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3"/>
          <p:cNvSpPr txBox="1"/>
          <p:nvPr/>
        </p:nvSpPr>
        <p:spPr>
          <a:xfrm>
            <a:off x="6581775" y="236458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压缩器 (Compressor)</a:t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6581775" y="282178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1038225" y="2990850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1104900" y="2993231"/>
            <a:ext cx="45053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被动读者 (Passive):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被动接收文档。</a:t>
            </a:r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1038225" y="46815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1104900" y="4683918"/>
            <a:ext cx="450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主动读者 (Active):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主动构建查询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, 与搜索引擎交互 (e.g., Self-Ask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，FLARE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)。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6753225" y="29813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6819900" y="2983706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问题: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检索文档过长，超出上下文窗口。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6753225" y="33670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6819900" y="3369468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抽取式 (Extractive):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提取 K 个最相关句子 (e.g., RECOMP)。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丢失潜在意图。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6753225" y="402431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62" name="Google Shape;462;p33"/>
          <p:cNvSpPr txBox="1"/>
          <p:nvPr/>
        </p:nvSpPr>
        <p:spPr>
          <a:xfrm>
            <a:off x="6819900" y="4026693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摘要式 (Abstractive):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总结长文档。</a:t>
            </a:r>
            <a:endParaRPr/>
          </a:p>
        </p:txBody>
      </p:sp>
      <p:sp>
        <p:nvSpPr>
          <p:cNvPr id="463" name="Google Shape;463;p33"/>
          <p:cNvSpPr txBox="1"/>
          <p:nvPr/>
        </p:nvSpPr>
        <p:spPr>
          <a:xfrm>
            <a:off x="6753225" y="441007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64" name="Google Shape;464;p33"/>
          <p:cNvSpPr txBox="1"/>
          <p:nvPr/>
        </p:nvSpPr>
        <p:spPr>
          <a:xfrm>
            <a:off x="6819900" y="4412456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向量式 (Vector):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e.g., xRAG (压缩为稠密向量)。</a:t>
            </a:r>
            <a:endParaRPr/>
          </a:p>
        </p:txBody>
      </p:sp>
      <p:sp>
        <p:nvSpPr>
          <p:cNvPr id="465" name="Google Shape;465;p33"/>
          <p:cNvSpPr txBox="1"/>
          <p:nvPr/>
        </p:nvSpPr>
        <p:spPr>
          <a:xfrm>
            <a:off x="1238250" y="32527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466" name="Google Shape;466;p33"/>
          <p:cNvSpPr txBox="1"/>
          <p:nvPr/>
        </p:nvSpPr>
        <p:spPr>
          <a:xfrm>
            <a:off x="1343025" y="3255168"/>
            <a:ext cx="4267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Once-Retrieval: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经典 RAG。</a:t>
            </a:r>
            <a:endParaRPr/>
          </a:p>
        </p:txBody>
      </p:sp>
      <p:sp>
        <p:nvSpPr>
          <p:cNvPr id="467" name="Google Shape;467;p33"/>
          <p:cNvSpPr txBox="1"/>
          <p:nvPr/>
        </p:nvSpPr>
        <p:spPr>
          <a:xfrm>
            <a:off x="1238250" y="36385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468" name="Google Shape;468;p33"/>
          <p:cNvSpPr txBox="1"/>
          <p:nvPr/>
        </p:nvSpPr>
        <p:spPr>
          <a:xfrm>
            <a:off x="1343025" y="3640931"/>
            <a:ext cx="4267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Periodic: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e.g., RETRO (每 N 词元)。</a:t>
            </a:r>
            <a:endParaRPr/>
          </a:p>
        </p:txBody>
      </p:sp>
      <p:sp>
        <p:nvSpPr>
          <p:cNvPr id="469" name="Google Shape;469;p33"/>
          <p:cNvSpPr txBox="1"/>
          <p:nvPr/>
        </p:nvSpPr>
        <p:spPr>
          <a:xfrm>
            <a:off x="1238250" y="40243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470" name="Google Shape;470;p33"/>
          <p:cNvSpPr txBox="1"/>
          <p:nvPr/>
        </p:nvSpPr>
        <p:spPr>
          <a:xfrm>
            <a:off x="1343025" y="4026693"/>
            <a:ext cx="4267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Aperiodic: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自主决定何时检索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(e.g., 低置信度时, FLARE, self-RAG)。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5" name="Google Shape;4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38412"/>
            <a:ext cx="2547937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2538412"/>
            <a:ext cx="2547937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538412"/>
            <a:ext cx="2547937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2562" y="2538412"/>
            <a:ext cx="2547937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4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Reader (RAG) (II): 局限性与挑战 (Section 6.4)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857250" y="3414712"/>
            <a:ext cx="207525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1. 位置偏见 (Lost in the Middle)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857250" y="4110037"/>
            <a:ext cx="19764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相关信息在上下文</a:t>
            </a: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中间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时，LLM 性能急剧下降。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3690937" y="3414712"/>
            <a:ext cx="207525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2. 何时检索? (When?)</a:t>
            </a:r>
            <a:endParaRPr/>
          </a:p>
        </p:txBody>
      </p:sp>
      <p:sp>
        <p:nvSpPr>
          <p:cNvPr id="483" name="Google Shape;483;p34"/>
          <p:cNvSpPr txBox="1"/>
          <p:nvPr/>
        </p:nvSpPr>
        <p:spPr>
          <a:xfrm>
            <a:off x="3690937" y="4110037"/>
            <a:ext cx="197643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"总是"检索反而会损害性能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(内部知识 vs. 外部检索噪声)。</a:t>
            </a:r>
            <a:endParaRPr/>
          </a:p>
        </p:txBody>
      </p:sp>
      <p:sp>
        <p:nvSpPr>
          <p:cNvPr id="484" name="Google Shape;484;p34"/>
          <p:cNvSpPr txBox="1"/>
          <p:nvPr/>
        </p:nvSpPr>
        <p:spPr>
          <a:xfrm>
            <a:off x="6524625" y="3414712"/>
            <a:ext cx="207525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知识冲突 (Conflict)</a:t>
            </a:r>
            <a:endParaRPr/>
          </a:p>
        </p:txBody>
      </p:sp>
      <p:sp>
        <p:nvSpPr>
          <p:cNvPr id="485" name="Google Shape;485;p34"/>
          <p:cNvSpPr txBox="1"/>
          <p:nvPr/>
        </p:nvSpPr>
        <p:spPr>
          <a:xfrm>
            <a:off x="6524625" y="4110037"/>
            <a:ext cx="197643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当检索知识与 LLM 内部知识冲突时，倾向于遵循</a:t>
            </a: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“多数原则”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  <p:sp>
        <p:nvSpPr>
          <p:cNvPr id="486" name="Google Shape;486;p34"/>
          <p:cNvSpPr txBox="1"/>
          <p:nvPr/>
        </p:nvSpPr>
        <p:spPr>
          <a:xfrm>
            <a:off x="9358312" y="3414712"/>
            <a:ext cx="207525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4. 可靠性 (Reliability)</a:t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9358312" y="4110037"/>
            <a:ext cx="197643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RAG 缓解了“幻觉”，但</a:t>
            </a:r>
            <a:r>
              <a:rPr b="1" i="0" lang="en-US" sz="1350" u="none" cap="none" strike="noStrike">
                <a:solidFill>
                  <a:srgbClr val="F5A3A3"/>
                </a:solidFill>
                <a:latin typeface="DM Sans"/>
                <a:ea typeface="DM Sans"/>
                <a:cs typeface="DM Sans"/>
                <a:sym typeface="DM Sans"/>
              </a:rPr>
              <a:t>无法根除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。LLM 仍可能生成不忠于参考文献的答案。</a:t>
            </a:r>
            <a:endParaRPr/>
          </a:p>
        </p:txBody>
      </p:sp>
      <p:pic>
        <p:nvPicPr>
          <p:cNvPr descr="image.png" id="488" name="Google Shape;48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871787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0937" y="28717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87178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58312" y="2871787"/>
            <a:ext cx="257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/>
          <p:nvPr/>
        </p:nvSpPr>
        <p:spPr>
          <a:xfrm>
            <a:off x="5619750" y="252129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5"/>
          <p:cNvSpPr txBox="1"/>
          <p:nvPr/>
        </p:nvSpPr>
        <p:spPr>
          <a:xfrm>
            <a:off x="730329" y="2854672"/>
            <a:ext cx="10731341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重点 7: Search Agent (搜索代理)</a:t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3814762" y="3936652"/>
            <a:ext cx="4562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IR 范式演进：从固定流水线到自主代理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3" name="Google Shape;5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83606"/>
            <a:ext cx="5334000" cy="3338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83606"/>
            <a:ext cx="5334000" cy="3338512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6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Agent (I): 架构与信息搜寻</a:t>
            </a:r>
            <a:endParaRPr/>
          </a:p>
        </p:txBody>
      </p:sp>
      <p:sp>
        <p:nvSpPr>
          <p:cNvPr id="506" name="Google Shape;506;p36"/>
          <p:cNvSpPr txBox="1"/>
          <p:nvPr/>
        </p:nvSpPr>
        <p:spPr>
          <a:xfrm>
            <a:off x="866775" y="247888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架构 (Architecture)</a:t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866775" y="293608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6"/>
          <p:cNvSpPr txBox="1"/>
          <p:nvPr/>
        </p:nvSpPr>
        <p:spPr>
          <a:xfrm>
            <a:off x="6581775" y="247888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信息搜寻 (Seeking Module)</a:t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6581775" y="293608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1038225" y="30956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1" name="Google Shape;511;p36"/>
          <p:cNvSpPr txBox="1"/>
          <p:nvPr/>
        </p:nvSpPr>
        <p:spPr>
          <a:xfrm>
            <a:off x="1104900" y="3098006"/>
            <a:ext cx="450532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单代理 (Single-Agent):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1 个 LLM 负责所有 (e.g., ReAct)。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优点: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简洁, 易于 RL 优化。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难处理复杂查询。</a:t>
            </a:r>
            <a:endParaRPr/>
          </a:p>
        </p:txBody>
      </p:sp>
      <p:sp>
        <p:nvSpPr>
          <p:cNvPr id="512" name="Google Shape;512;p36"/>
          <p:cNvSpPr txBox="1"/>
          <p:nvPr/>
        </p:nvSpPr>
        <p:spPr>
          <a:xfrm>
            <a:off x="1038225" y="429577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1104900" y="4298156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多代理 (Multi-Agent):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任务分解 ("规划者" + "搜索者")。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优点: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专注, 效率高。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联合优化困难, 通常只优化 Planner。</a:t>
            </a:r>
            <a:endParaRPr/>
          </a:p>
        </p:txBody>
      </p:sp>
      <p:sp>
        <p:nvSpPr>
          <p:cNvPr id="514" name="Google Shape;514;p36"/>
          <p:cNvSpPr txBox="1"/>
          <p:nvPr/>
        </p:nvSpPr>
        <p:spPr>
          <a:xfrm>
            <a:off x="6753225" y="30956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5" name="Google Shape;515;p36"/>
          <p:cNvSpPr txBox="1"/>
          <p:nvPr/>
        </p:nvSpPr>
        <p:spPr>
          <a:xfrm>
            <a:off x="6819900" y="3098006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基于 API: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优点: 简单。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难处理动态内容/登录。</a:t>
            </a:r>
            <a:endParaRPr/>
          </a:p>
        </p:txBody>
      </p:sp>
      <p:sp>
        <p:nvSpPr>
          <p:cNvPr id="516" name="Google Shape;516;p36"/>
          <p:cNvSpPr txBox="1"/>
          <p:nvPr/>
        </p:nvSpPr>
        <p:spPr>
          <a:xfrm>
            <a:off x="6753225" y="34813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7" name="Google Shape;517;p36"/>
          <p:cNvSpPr txBox="1"/>
          <p:nvPr/>
        </p:nvSpPr>
        <p:spPr>
          <a:xfrm>
            <a:off x="6819900" y="3483768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基于浏览: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模拟人类点击/滚动。 优点: 真实。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延迟高/成本大。</a:t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6753225" y="413861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9" name="Google Shape;519;p36"/>
          <p:cNvSpPr txBox="1"/>
          <p:nvPr/>
        </p:nvSpPr>
        <p:spPr>
          <a:xfrm>
            <a:off x="6819900" y="4140993"/>
            <a:ext cx="450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研究: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ZeroSearch (模拟 API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降低成本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), Alita (动态创建MCP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(model context protocol)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工具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，减少对预定义工具包的依赖，优化计算成本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)。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4" name="Google Shape;5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0775"/>
            <a:ext cx="5334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90775"/>
            <a:ext cx="53340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7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Agent (II): 优化与基准</a:t>
            </a:r>
            <a:endParaRPr/>
          </a:p>
        </p:txBody>
      </p:sp>
      <p:sp>
        <p:nvSpPr>
          <p:cNvPr id="527" name="Google Shape;527;p37"/>
          <p:cNvSpPr txBox="1"/>
          <p:nvPr/>
        </p:nvSpPr>
        <p:spPr>
          <a:xfrm>
            <a:off x="866775" y="2686050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优化 (Optimization)</a:t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866775" y="3143250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866775" y="3305175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将搜索技能（规划、工具使用）内化为模型参数。</a:t>
            </a:r>
            <a:endParaRPr/>
          </a:p>
        </p:txBody>
      </p:sp>
      <p:sp>
        <p:nvSpPr>
          <p:cNvPr id="530" name="Google Shape;530;p37"/>
          <p:cNvSpPr txBox="1"/>
          <p:nvPr/>
        </p:nvSpPr>
        <p:spPr>
          <a:xfrm>
            <a:off x="6581775" y="2686050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基准 (Benchmarks)</a:t>
            </a:r>
            <a:endParaRPr/>
          </a:p>
        </p:txBody>
      </p:sp>
      <p:sp>
        <p:nvSpPr>
          <p:cNvPr id="531" name="Google Shape;531;p37"/>
          <p:cNvSpPr/>
          <p:nvPr/>
        </p:nvSpPr>
        <p:spPr>
          <a:xfrm>
            <a:off x="6581775" y="3143250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6581775" y="3305175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评估代理解决问题和使用工具的能力。</a:t>
            </a:r>
            <a:endParaRPr/>
          </a:p>
        </p:txBody>
      </p:sp>
      <p:sp>
        <p:nvSpPr>
          <p:cNvPr id="533" name="Google Shape;533;p37"/>
          <p:cNvSpPr txBox="1"/>
          <p:nvPr/>
        </p:nvSpPr>
        <p:spPr>
          <a:xfrm>
            <a:off x="1038225" y="358854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34" name="Google Shape;534;p37"/>
          <p:cNvSpPr txBox="1"/>
          <p:nvPr/>
        </p:nvSpPr>
        <p:spPr>
          <a:xfrm>
            <a:off x="1104900" y="3590925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策略性检索 (Strategic):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训练代理学会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“何时”检索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/>
          </a:p>
        </p:txBody>
      </p:sp>
      <p:sp>
        <p:nvSpPr>
          <p:cNvPr id="535" name="Google Shape;535;p37"/>
          <p:cNvSpPr txBox="1"/>
          <p:nvPr/>
        </p:nvSpPr>
        <p:spPr>
          <a:xfrm>
            <a:off x="1038225" y="397430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36" name="Google Shape;536;p37"/>
          <p:cNvSpPr txBox="1"/>
          <p:nvPr/>
        </p:nvSpPr>
        <p:spPr>
          <a:xfrm>
            <a:off x="1104900" y="3976687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迭代检索 (Iterative):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通过 SFT 或 RL 训练多步搜索。</a:t>
            </a:r>
            <a:endParaRPr/>
          </a:p>
        </p:txBody>
      </p:sp>
      <p:sp>
        <p:nvSpPr>
          <p:cNvPr id="537" name="Google Shape;537;p37"/>
          <p:cNvSpPr txBox="1"/>
          <p:nvPr/>
        </p:nvSpPr>
        <p:spPr>
          <a:xfrm>
            <a:off x="1038225" y="43600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38" name="Google Shape;538;p37"/>
          <p:cNvSpPr txBox="1"/>
          <p:nvPr/>
        </p:nvSpPr>
        <p:spPr>
          <a:xfrm>
            <a:off x="1104900" y="4362450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自主开放网络 (Autonomous):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端到端 RL 训练，处理噪声和冲突。</a:t>
            </a:r>
            <a:endParaRPr/>
          </a:p>
        </p:txBody>
      </p:sp>
      <p:sp>
        <p:nvSpPr>
          <p:cNvPr id="539" name="Google Shape;539;p37"/>
          <p:cNvSpPr txBox="1"/>
          <p:nvPr/>
        </p:nvSpPr>
        <p:spPr>
          <a:xfrm>
            <a:off x="6753225" y="358854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40" name="Google Shape;540;p37"/>
          <p:cNvSpPr txBox="1"/>
          <p:nvPr/>
        </p:nvSpPr>
        <p:spPr>
          <a:xfrm>
            <a:off x="6819900" y="3590925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QA 导向 (QA-oriented):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评估答案准确性 (e.g., HotpotQA, 2WikiMultiHopQA)。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6753225" y="42457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42" name="Google Shape;542;p37"/>
          <p:cNvSpPr txBox="1"/>
          <p:nvPr/>
        </p:nvSpPr>
        <p:spPr>
          <a:xfrm>
            <a:off x="6819900" y="4248150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任务导向 (Task-oriented):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评估规划和工具使用 (e.g., GAIA, SWE-bench)。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3A3A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Agent (III): 局限性 (Limitations)</a:t>
            </a:r>
            <a:endParaRPr/>
          </a:p>
        </p:txBody>
      </p:sp>
      <p:sp>
        <p:nvSpPr>
          <p:cNvPr id="548" name="Google Shape;548;p38"/>
          <p:cNvSpPr txBox="1"/>
          <p:nvPr/>
        </p:nvSpPr>
        <p:spPr>
          <a:xfrm>
            <a:off x="1381125" y="2855565"/>
            <a:ext cx="9058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可信度 (Trustworthiness):</a:t>
            </a: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代理如何学会</a:t>
            </a:r>
            <a:r>
              <a:rPr b="1" i="0" lang="en-US" sz="1500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自主验证 (Self-Validation)</a:t>
            </a: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从网络上搜集到的信息的可信度？</a:t>
            </a:r>
            <a:endParaRPr/>
          </a:p>
        </p:txBody>
      </p:sp>
      <p:sp>
        <p:nvSpPr>
          <p:cNvPr id="549" name="Google Shape;549;p38"/>
          <p:cNvSpPr txBox="1"/>
          <p:nvPr/>
        </p:nvSpPr>
        <p:spPr>
          <a:xfrm>
            <a:off x="1381125" y="3520380"/>
            <a:ext cx="8601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忠实性 (Faithfulness):</a:t>
            </a: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搜集到的信息是否被 </a:t>
            </a:r>
            <a:r>
              <a:rPr b="1" i="0" lang="en-US" sz="1500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真正</a:t>
            </a: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用于生成最终响应？ (这些问题今天依然很严重！)</a:t>
            </a:r>
            <a:endParaRPr/>
          </a:p>
        </p:txBody>
      </p:sp>
      <p:sp>
        <p:nvSpPr>
          <p:cNvPr id="550" name="Google Shape;550;p38"/>
          <p:cNvSpPr txBox="1"/>
          <p:nvPr/>
        </p:nvSpPr>
        <p:spPr>
          <a:xfrm>
            <a:off x="1381125" y="4185195"/>
            <a:ext cx="9725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联合优化 (Joint Optimization):</a:t>
            </a:r>
            <a:r>
              <a:rPr b="0" i="0" lang="en-US" sz="1500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多代理框架的 RL 联合优化非常困难，目前通常只优化核心的“规划者” (Planner)。</a:t>
            </a:r>
            <a:endParaRPr/>
          </a:p>
        </p:txBody>
      </p:sp>
      <p:pic>
        <p:nvPicPr>
          <p:cNvPr descr="image.png" id="551" name="Google Shape;55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587" y="296986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363468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299495"/>
            <a:ext cx="3333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"/>
          <p:cNvSpPr/>
          <p:nvPr/>
        </p:nvSpPr>
        <p:spPr>
          <a:xfrm>
            <a:off x="5619750" y="207555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9"/>
          <p:cNvSpPr txBox="1"/>
          <p:nvPr/>
        </p:nvSpPr>
        <p:spPr>
          <a:xfrm>
            <a:off x="295275" y="2408932"/>
            <a:ext cx="116016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重点 8: 未来方向</a:t>
            </a:r>
            <a:endParaRPr b="1" i="0" sz="5400" u="none" cap="none" strike="noStrike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(Future Directions)</a:t>
            </a:r>
            <a:endParaRPr/>
          </a:p>
        </p:txBody>
      </p:sp>
      <p:sp>
        <p:nvSpPr>
          <p:cNvPr id="560" name="Google Shape;560;p39"/>
          <p:cNvSpPr txBox="1"/>
          <p:nvPr/>
        </p:nvSpPr>
        <p:spPr>
          <a:xfrm>
            <a:off x="4976812" y="4382392"/>
            <a:ext cx="223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潜力点分析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5" name="Google Shape;5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1712"/>
            <a:ext cx="53340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71712"/>
            <a:ext cx="53340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0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未来方向 (I): Rewriter &amp; Retriever</a:t>
            </a:r>
            <a:endParaRPr/>
          </a:p>
        </p:txBody>
      </p:sp>
      <p:sp>
        <p:nvSpPr>
          <p:cNvPr id="568" name="Google Shape;568;p40"/>
          <p:cNvSpPr txBox="1"/>
          <p:nvPr/>
        </p:nvSpPr>
        <p:spPr>
          <a:xfrm>
            <a:off x="866775" y="2566987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Query Rewriter</a:t>
            </a:r>
            <a:endParaRPr/>
          </a:p>
        </p:txBody>
      </p:sp>
      <p:sp>
        <p:nvSpPr>
          <p:cNvPr id="569" name="Google Shape;569;p40"/>
          <p:cNvSpPr/>
          <p:nvPr/>
        </p:nvSpPr>
        <p:spPr>
          <a:xfrm>
            <a:off x="866775" y="3005137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0"/>
          <p:cNvSpPr txBox="1"/>
          <p:nvPr/>
        </p:nvSpPr>
        <p:spPr>
          <a:xfrm>
            <a:off x="6581775" y="2566987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Retriever</a:t>
            </a:r>
            <a:endParaRPr/>
          </a:p>
        </p:txBody>
      </p:sp>
      <p:sp>
        <p:nvSpPr>
          <p:cNvPr id="571" name="Google Shape;571;p40"/>
          <p:cNvSpPr/>
          <p:nvPr/>
        </p:nvSpPr>
        <p:spPr>
          <a:xfrm>
            <a:off x="6581775" y="3005137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0"/>
          <p:cNvSpPr txBox="1"/>
          <p:nvPr/>
        </p:nvSpPr>
        <p:spPr>
          <a:xfrm>
            <a:off x="1038225" y="316468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73" name="Google Shape;573;p40"/>
          <p:cNvSpPr txBox="1"/>
          <p:nvPr/>
        </p:nvSpPr>
        <p:spPr>
          <a:xfrm>
            <a:off x="1104900" y="3167062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缺乏检索感知 (关键点):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尽管 LLM 能识别意图 [338], 但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缺乏对重写后“检索质量”的感知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。导致查询看似正确，但排名很差。</a:t>
            </a:r>
            <a:endParaRPr/>
          </a:p>
        </p:txBody>
      </p:sp>
      <p:sp>
        <p:nvSpPr>
          <p:cNvPr id="574" name="Google Shape;574;p40"/>
          <p:cNvSpPr txBox="1"/>
          <p:nvPr/>
        </p:nvSpPr>
        <p:spPr>
          <a:xfrm>
            <a:off x="1038225" y="40933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75" name="Google Shape;575;p40"/>
          <p:cNvSpPr txBox="1"/>
          <p:nvPr/>
        </p:nvSpPr>
        <p:spPr>
          <a:xfrm>
            <a:off x="1104900" y="4095750"/>
            <a:ext cx="450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研究点: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如何整合下游的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排序性能 (Ranking Performance)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作为反馈信号 (e.g., RL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成本极高-离散问题不能算梯度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)？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蒸馏?teacher本身也是模拟</a:t>
            </a:r>
            <a:endParaRPr/>
          </a:p>
        </p:txBody>
      </p:sp>
      <p:sp>
        <p:nvSpPr>
          <p:cNvPr id="576" name="Google Shape;576;p40"/>
          <p:cNvSpPr txBox="1"/>
          <p:nvPr/>
        </p:nvSpPr>
        <p:spPr>
          <a:xfrm>
            <a:off x="1038225" y="475059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77" name="Google Shape;577;p40"/>
          <p:cNvSpPr txBox="1"/>
          <p:nvPr/>
        </p:nvSpPr>
        <p:spPr>
          <a:xfrm>
            <a:off x="1104900" y="5022075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个性化: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利用 LLM 构建用户画像，实现个性化重写。</a:t>
            </a:r>
            <a:endParaRPr/>
          </a:p>
        </p:txBody>
      </p:sp>
      <p:sp>
        <p:nvSpPr>
          <p:cNvPr id="578" name="Google Shape;578;p40"/>
          <p:cNvSpPr txBox="1"/>
          <p:nvPr/>
        </p:nvSpPr>
        <p:spPr>
          <a:xfrm>
            <a:off x="6753225" y="316468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79" name="Google Shape;579;p40"/>
          <p:cNvSpPr txBox="1"/>
          <p:nvPr/>
        </p:nvSpPr>
        <p:spPr>
          <a:xfrm>
            <a:off x="6819900" y="3167062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生成式检索 (核心挑战):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如何为“生成式检索器”设计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增量索引 (Incremental Indexing)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？ (新文档加入时，如何高效更新 LLM 参数，避免重训)。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6753225" y="40933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6819900" y="4095750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效率: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知识蒸馏 (Distillation) 和量化 (Quantization)。</a:t>
            </a:r>
            <a:endParaRPr/>
          </a:p>
        </p:txBody>
      </p:sp>
      <p:sp>
        <p:nvSpPr>
          <p:cNvPr id="582" name="Google Shape;582;p40"/>
          <p:cNvSpPr txBox="1"/>
          <p:nvPr/>
        </p:nvSpPr>
        <p:spPr>
          <a:xfrm>
            <a:off x="6753225" y="447913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83" name="Google Shape;583;p40"/>
          <p:cNvSpPr txBox="1"/>
          <p:nvPr/>
        </p:nvSpPr>
        <p:spPr>
          <a:xfrm>
            <a:off x="6819900" y="4481512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多模态: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结合 LLM 语言能力与多模态模型 (非直接替换)。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8" name="Google Shape;5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7443"/>
            <a:ext cx="5334000" cy="2890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07443"/>
            <a:ext cx="5334000" cy="289083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1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未来方向 (II): Reranker &amp; Reader (RAG)</a:t>
            </a:r>
            <a:endParaRPr/>
          </a:p>
        </p:txBody>
      </p:sp>
      <p:sp>
        <p:nvSpPr>
          <p:cNvPr id="591" name="Google Shape;591;p41"/>
          <p:cNvSpPr txBox="1"/>
          <p:nvPr/>
        </p:nvSpPr>
        <p:spPr>
          <a:xfrm>
            <a:off x="866775" y="2702718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Reranker</a:t>
            </a:r>
            <a:endParaRPr/>
          </a:p>
        </p:txBody>
      </p:sp>
      <p:sp>
        <p:nvSpPr>
          <p:cNvPr id="592" name="Google Shape;592;p41"/>
          <p:cNvSpPr/>
          <p:nvPr/>
        </p:nvSpPr>
        <p:spPr>
          <a:xfrm>
            <a:off x="866775" y="3140868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1"/>
          <p:cNvSpPr txBox="1"/>
          <p:nvPr/>
        </p:nvSpPr>
        <p:spPr>
          <a:xfrm>
            <a:off x="6581775" y="2702718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Reader (RAG)</a:t>
            </a:r>
            <a:endParaRPr/>
          </a:p>
        </p:txBody>
      </p:sp>
      <p:sp>
        <p:nvSpPr>
          <p:cNvPr id="594" name="Google Shape;594;p41"/>
          <p:cNvSpPr/>
          <p:nvPr/>
        </p:nvSpPr>
        <p:spPr>
          <a:xfrm>
            <a:off x="6581775" y="3140868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1"/>
          <p:cNvSpPr txBox="1"/>
          <p:nvPr/>
        </p:nvSpPr>
        <p:spPr>
          <a:xfrm>
            <a:off x="1038225" y="330041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96" name="Google Shape;596;p41"/>
          <p:cNvSpPr txBox="1"/>
          <p:nvPr/>
        </p:nvSpPr>
        <p:spPr>
          <a:xfrm>
            <a:off x="1104900" y="3302793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效率: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蒸馏 (Distill)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昂贵 LLM (如 GPT-4) 的排序能力到小模型中。</a:t>
            </a:r>
            <a:endParaRPr/>
          </a:p>
        </p:txBody>
      </p:sp>
      <p:sp>
        <p:nvSpPr>
          <p:cNvPr id="597" name="Google Shape;597;p41"/>
          <p:cNvSpPr txBox="1"/>
          <p:nvPr/>
        </p:nvSpPr>
        <p:spPr>
          <a:xfrm>
            <a:off x="1038225" y="39576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98" name="Google Shape;598;p41"/>
          <p:cNvSpPr txBox="1"/>
          <p:nvPr/>
        </p:nvSpPr>
        <p:spPr>
          <a:xfrm>
            <a:off x="1104900" y="3960018"/>
            <a:ext cx="450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多样性 (Valuable):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让 LLM 适应多样的排序任务 (e.g.,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响应排序, 证据排序, 实体排序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)。论文原话:intriguing</a:t>
            </a:r>
            <a:r>
              <a:rPr lang="en-US" sz="1425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and valuable</a:t>
            </a:r>
            <a:endParaRPr/>
          </a:p>
        </p:txBody>
      </p:sp>
      <p:sp>
        <p:nvSpPr>
          <p:cNvPr id="599" name="Google Shape;599;p41"/>
          <p:cNvSpPr txBox="1"/>
          <p:nvPr/>
        </p:nvSpPr>
        <p:spPr>
          <a:xfrm>
            <a:off x="1104425" y="4951518"/>
            <a:ext cx="4505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个性化: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结合用户画像进行个性化重排。</a:t>
            </a:r>
            <a:endParaRPr/>
          </a:p>
        </p:txBody>
      </p:sp>
      <p:sp>
        <p:nvSpPr>
          <p:cNvPr id="600" name="Google Shape;600;p41"/>
          <p:cNvSpPr txBox="1"/>
          <p:nvPr/>
        </p:nvSpPr>
        <p:spPr>
          <a:xfrm>
            <a:off x="6753225" y="330041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01" name="Google Shape;601;p41"/>
          <p:cNvSpPr txBox="1"/>
          <p:nvPr/>
        </p:nvSpPr>
        <p:spPr>
          <a:xfrm>
            <a:off x="6819900" y="3302793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可靠性 (Reliability):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缓解幻觉的核心: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如何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确保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LLM 在生成答案时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忠实地 (Faithfully)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使用了参考文献？</a:t>
            </a:r>
            <a:endParaRPr/>
          </a:p>
        </p:txBody>
      </p:sp>
      <p:sp>
        <p:nvSpPr>
          <p:cNvPr id="602" name="Google Shape;602;p41"/>
          <p:cNvSpPr txBox="1"/>
          <p:nvPr/>
        </p:nvSpPr>
        <p:spPr>
          <a:xfrm>
            <a:off x="6753225" y="39576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03" name="Google Shape;603;p41"/>
          <p:cNvSpPr txBox="1"/>
          <p:nvPr/>
        </p:nvSpPr>
        <p:spPr>
          <a:xfrm>
            <a:off x="6819900" y="3960018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参考质量 (Ref Quality):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研究更好的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片段抽取 (Snippet Extraction)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，避免将充满噪声的整个文档喂给 LLM。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8" name="Google Shape;60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69306"/>
            <a:ext cx="5334000" cy="356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9" name="Google Shape;60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69306"/>
            <a:ext cx="5334000" cy="3567112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2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未来方向 (III): 评估、代理与偏见</a:t>
            </a:r>
            <a:endParaRPr/>
          </a:p>
        </p:txBody>
      </p:sp>
      <p:sp>
        <p:nvSpPr>
          <p:cNvPr id="611" name="Google Shape;611;p42"/>
          <p:cNvSpPr txBox="1"/>
          <p:nvPr/>
        </p:nvSpPr>
        <p:spPr>
          <a:xfrm>
            <a:off x="866775" y="236458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Agent &amp; 偏见 (Bias)</a:t>
            </a:r>
            <a:endParaRPr/>
          </a:p>
        </p:txBody>
      </p:sp>
      <p:sp>
        <p:nvSpPr>
          <p:cNvPr id="612" name="Google Shape;612;p42"/>
          <p:cNvSpPr/>
          <p:nvPr/>
        </p:nvSpPr>
        <p:spPr>
          <a:xfrm>
            <a:off x="866775" y="282178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2"/>
          <p:cNvSpPr txBox="1"/>
          <p:nvPr/>
        </p:nvSpPr>
        <p:spPr>
          <a:xfrm>
            <a:off x="6581775" y="2364581"/>
            <a:ext cx="49806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评估 (Evaluation)</a:t>
            </a:r>
            <a:endParaRPr/>
          </a:p>
        </p:txBody>
      </p:sp>
      <p:sp>
        <p:nvSpPr>
          <p:cNvPr id="614" name="Google Shape;614;p42"/>
          <p:cNvSpPr/>
          <p:nvPr/>
        </p:nvSpPr>
        <p:spPr>
          <a:xfrm>
            <a:off x="6581775" y="2821781"/>
            <a:ext cx="47434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2"/>
          <p:cNvSpPr txBox="1"/>
          <p:nvPr/>
        </p:nvSpPr>
        <p:spPr>
          <a:xfrm>
            <a:off x="1038225" y="29813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16" name="Google Shape;616;p42"/>
          <p:cNvSpPr txBox="1"/>
          <p:nvPr/>
        </p:nvSpPr>
        <p:spPr>
          <a:xfrm>
            <a:off x="1104900" y="2983706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Agent 可信度: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代理如何学会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自主验证 (Self-Validation)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所搜集信息的可信度？信息是否被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真正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用于生成响应？ (今天依然严重！)</a:t>
            </a:r>
            <a:endParaRPr/>
          </a:p>
        </p:txBody>
      </p:sp>
      <p:sp>
        <p:nvSpPr>
          <p:cNvPr id="617" name="Google Shape;617;p42"/>
          <p:cNvSpPr txBox="1"/>
          <p:nvPr/>
        </p:nvSpPr>
        <p:spPr>
          <a:xfrm>
            <a:off x="1038225" y="391001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18" name="Google Shape;618;p42"/>
          <p:cNvSpPr txBox="1"/>
          <p:nvPr/>
        </p:nvSpPr>
        <p:spPr>
          <a:xfrm>
            <a:off x="1104900" y="3912393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来源偏见 (Source Bias) [新颖发现]: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神经检索器 </a:t>
            </a: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更偏好 LLM 生成的文本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(因其更流畅)。这是一个亟待解决的公平性问题。</a:t>
            </a:r>
            <a:endParaRPr/>
          </a:p>
        </p:txBody>
      </p:sp>
      <p:sp>
        <p:nvSpPr>
          <p:cNvPr id="619" name="Google Shape;619;p42"/>
          <p:cNvSpPr txBox="1"/>
          <p:nvPr/>
        </p:nvSpPr>
        <p:spPr>
          <a:xfrm>
            <a:off x="6753225" y="29813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20" name="Google Shape;620;p42"/>
          <p:cNvSpPr txBox="1"/>
          <p:nvPr/>
        </p:nvSpPr>
        <p:spPr>
          <a:xfrm>
            <a:off x="6819900" y="2983706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新指标: “面向生成的排序”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- 评估文档是否“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适合生成答案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”, 而非仅“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主题相关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”。</a:t>
            </a:r>
            <a:endParaRPr/>
          </a:p>
        </p:txBody>
      </p:sp>
      <p:sp>
        <p:nvSpPr>
          <p:cNvPr id="621" name="Google Shape;621;p42"/>
          <p:cNvSpPr txBox="1"/>
          <p:nvPr/>
        </p:nvSpPr>
        <p:spPr>
          <a:xfrm>
            <a:off x="6753225" y="364807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22" name="Google Shape;622;p42"/>
          <p:cNvSpPr txBox="1"/>
          <p:nvPr/>
        </p:nvSpPr>
        <p:spPr>
          <a:xfrm>
            <a:off x="6819900" y="3650456"/>
            <a:ext cx="450532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93A3A"/>
                </a:solidFill>
                <a:latin typeface="DM Sans"/>
                <a:ea typeface="DM Sans"/>
                <a:cs typeface="DM Sans"/>
                <a:sym typeface="DM Sans"/>
              </a:rPr>
              <a:t>评估事实一致性 (Factuality):</a:t>
            </a: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 传统指标 (BLEU/ROUGE) 缺陷：</a:t>
            </a:r>
            <a:endParaRPr/>
          </a:p>
        </p:txBody>
      </p:sp>
      <p:sp>
        <p:nvSpPr>
          <p:cNvPr id="623" name="Google Shape;623;p42"/>
          <p:cNvSpPr txBox="1"/>
          <p:nvPr/>
        </p:nvSpPr>
        <p:spPr>
          <a:xfrm>
            <a:off x="6915150" y="41814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624" name="Google Shape;624;p42"/>
          <p:cNvSpPr txBox="1"/>
          <p:nvPr/>
        </p:nvSpPr>
        <p:spPr>
          <a:xfrm>
            <a:off x="7010400" y="4183856"/>
            <a:ext cx="4314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依赖词汇匹配 (无创意)</a:t>
            </a:r>
            <a:endParaRPr/>
          </a:p>
        </p:txBody>
      </p:sp>
      <p:sp>
        <p:nvSpPr>
          <p:cNvPr id="625" name="Google Shape;625;p42"/>
          <p:cNvSpPr txBox="1"/>
          <p:nvPr/>
        </p:nvSpPr>
        <p:spPr>
          <a:xfrm>
            <a:off x="6867525" y="4567237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626" name="Google Shape;626;p42"/>
          <p:cNvSpPr txBox="1"/>
          <p:nvPr/>
        </p:nvSpPr>
        <p:spPr>
          <a:xfrm>
            <a:off x="7010400" y="4569618"/>
            <a:ext cx="4314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细微差异不敏感</a:t>
            </a:r>
            <a:endParaRPr/>
          </a:p>
        </p:txBody>
      </p:sp>
      <p:sp>
        <p:nvSpPr>
          <p:cNvPr id="627" name="Google Shape;627;p42"/>
          <p:cNvSpPr txBox="1"/>
          <p:nvPr/>
        </p:nvSpPr>
        <p:spPr>
          <a:xfrm>
            <a:off x="6867525" y="4953000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628" name="Google Shape;628;p42"/>
          <p:cNvSpPr txBox="1"/>
          <p:nvPr/>
        </p:nvSpPr>
        <p:spPr>
          <a:xfrm>
            <a:off x="7010400" y="4955381"/>
            <a:ext cx="4314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A2D3D"/>
                </a:solidFill>
                <a:latin typeface="DM Sans"/>
                <a:ea typeface="DM Sans"/>
                <a:cs typeface="DM Sans"/>
                <a:sym typeface="DM Sans"/>
              </a:rPr>
              <a:t>无法评估幻觉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3"/>
          <p:cNvSpPr/>
          <p:nvPr/>
        </p:nvSpPr>
        <p:spPr>
          <a:xfrm>
            <a:off x="5619750" y="2321272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3"/>
          <p:cNvSpPr txBox="1"/>
          <p:nvPr/>
        </p:nvSpPr>
        <p:spPr>
          <a:xfrm>
            <a:off x="1785461" y="2654647"/>
            <a:ext cx="86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9: 结论 (Conclusion)</a:t>
            </a:r>
            <a:endParaRPr/>
          </a:p>
        </p:txBody>
      </p:sp>
      <p:sp>
        <p:nvSpPr>
          <p:cNvPr id="635" name="Google Shape;635;p43"/>
          <p:cNvSpPr txBox="1"/>
          <p:nvPr/>
        </p:nvSpPr>
        <p:spPr>
          <a:xfrm>
            <a:off x="2228850" y="3736627"/>
            <a:ext cx="773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LLM 正在重塑 IR，从返回文档列表到生成知识和答案。未来 IR 可能演变为多元系统的基础服务 (e.g., 多智能体模拟</a:t>
            </a:r>
            <a:r>
              <a:rPr lang="en-US" sz="21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中用于记忆回忆</a:t>
            </a: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)。-&gt;</a:t>
            </a:r>
            <a:r>
              <a:rPr lang="en-US" sz="21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面临许多新挑战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4"/>
          <p:cNvSpPr txBox="1"/>
          <p:nvPr/>
        </p:nvSpPr>
        <p:spPr>
          <a:xfrm>
            <a:off x="4175760" y="2457450"/>
            <a:ext cx="384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谢谢</a:t>
            </a:r>
            <a:endParaRPr/>
          </a:p>
        </p:txBody>
      </p:sp>
      <p:sp>
        <p:nvSpPr>
          <p:cNvPr id="641" name="Google Shape;641;p44"/>
          <p:cNvSpPr txBox="1"/>
          <p:nvPr/>
        </p:nvSpPr>
        <p:spPr>
          <a:xfrm>
            <a:off x="5205412" y="3886200"/>
            <a:ext cx="17811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 b="0" i="0" sz="2700" u="none" cap="none" strike="noStrike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笔记详见我的github仓库</a:t>
            </a:r>
            <a:r>
              <a:rPr lang="en-US" sz="1100" u="sng">
                <a:solidFill>
                  <a:srgbClr val="C93A3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howardatri/notes</a:t>
            </a:r>
            <a:endParaRPr sz="2700">
              <a:solidFill>
                <a:srgbClr val="C93A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